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562850" cy="10690225"/>
  <p:notesSz cx="10690225" cy="75628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2334" y="72"/>
      </p:cViewPr>
      <p:guideLst>
        <p:guide orient="horz" pos="3367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2DEDE5D-96E4-4BC6-B5E7-C37D3F21218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EF6428-2EF5-4B89-9ABB-E55FB95FE37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490970-854D-409A-941A-2DB163FBDFD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248161-A907-4F09-B7DA-EFD7E6DBE02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942EFC-453B-4EB9-9A9B-D267A3279ED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0781DF-7FA0-41C2-BBC3-093EAB0321D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9D595A-25CF-4A2F-A68A-44648DC64E3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030BD5-A4C5-485F-A0D0-2E7F83FB1CE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757592-E456-4743-A576-6CBB358D158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FC6A16-E8DD-49B7-A9EA-7013F03BBC0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59F786-A237-46FF-8821-0D977845C0E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3C8A49-6899-41A8-BE13-45CA0B5F60C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678A34-76EE-493B-B160-02E36A39D6A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78000" y="2501280"/>
            <a:ext cx="6805440" cy="619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【도 </a:t>
            </a:r>
            <a:r>
              <a:rPr lang="en-US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1</a:t>
            </a:r>
            <a:r>
              <a:rPr lang="zh-CN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】  전체 흐름도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868680"/>
            <a:ext cx="664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청구항 제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1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항의 각 단계에 대응 — 상세는 도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2 ~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도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9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2286000" y="1371600"/>
            <a:ext cx="3108600" cy="402120"/>
          </a:xfrm>
          <a:prstGeom prst="roundRect">
            <a:avLst>
              <a:gd name="adj" fmla="val 40909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2286000" y="1371600"/>
            <a:ext cx="31086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도면 데이터 </a:t>
            </a:r>
            <a:r>
              <a:rPr lang="en-US" sz="95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(DXF)</a:t>
            </a:r>
            <a:endParaRPr lang="en-US" sz="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840480" y="177372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286000" y="2084760"/>
            <a:ext cx="3108600" cy="4568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2359080" y="2084760"/>
            <a:ext cx="296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도면 입력 </a:t>
            </a:r>
            <a:r>
              <a:rPr lang="en-US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인식 </a:t>
            </a:r>
            <a:r>
              <a:rPr lang="en-US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(S100)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840480" y="254196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2286000" y="2853000"/>
            <a:ext cx="3108600" cy="456840"/>
          </a:xfrm>
          <a:prstGeom prst="rect">
            <a:avLst/>
          </a:prstGeom>
          <a:solidFill>
            <a:srgbClr val="FFFFFF"/>
          </a:solidFill>
          <a:ln w="330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359080" y="2853000"/>
            <a:ext cx="296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기준</a:t>
            </a:r>
            <a:r>
              <a:rPr lang="ko-KR" altLang="en-US" sz="900" b="1" spc="-1" dirty="0">
                <a:solidFill>
                  <a:srgbClr val="FF0000"/>
                </a:solidFill>
                <a:latin typeface="Malgun Gothic"/>
                <a:ea typeface="Malgun Gothic"/>
              </a:rPr>
              <a:t>노드</a:t>
            </a:r>
            <a:r>
              <a:rPr lang="zh-CN" sz="9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 설정 </a:t>
            </a:r>
            <a:r>
              <a:rPr lang="en-US" sz="9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(S200)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840480" y="330984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2286000" y="3620880"/>
            <a:ext cx="3108600" cy="456840"/>
          </a:xfrm>
          <a:prstGeom prst="rect">
            <a:avLst/>
          </a:prstGeom>
          <a:solidFill>
            <a:srgbClr val="FFFFFF"/>
          </a:solidFill>
          <a:ln w="330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2359080" y="3620880"/>
            <a:ext cx="296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배관망 그래프 구축 </a:t>
            </a:r>
            <a:r>
              <a:rPr lang="en-US" sz="9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(S300)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840480" y="407808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600200" y="4389120"/>
            <a:ext cx="4480200" cy="4568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673280" y="4389120"/>
            <a:ext cx="4334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기준개수 헤드</a:t>
            </a:r>
            <a:r>
              <a:rPr lang="ko-KR" altLang="en-US" sz="800" b="0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군</a:t>
            </a:r>
            <a:r>
              <a:rPr lang="zh-CN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 선정 </a:t>
            </a:r>
            <a:r>
              <a:rPr lang="en-US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(S400)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3840480" y="484632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1554480" y="5157360"/>
            <a:ext cx="4571640" cy="54828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1627560" y="5157360"/>
            <a:ext cx="4425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배관 정보 데이터 입력 및 </a:t>
            </a:r>
            <a:r>
              <a:rPr lang="en-US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Isometric </a:t>
            </a: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도면 생성 </a:t>
            </a:r>
            <a:r>
              <a:rPr lang="en-US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(S500)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3840480" y="570564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920240" y="6016680"/>
            <a:ext cx="3840120" cy="71280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2423160" y="6016680"/>
            <a:ext cx="28342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추가도면 여부 </a:t>
            </a:r>
            <a:r>
              <a:rPr lang="en-US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(S650)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3840480" y="672984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2286000" y="7040880"/>
            <a:ext cx="3108600" cy="4568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2359080" y="7040880"/>
            <a:ext cx="296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병합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결과 출력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(S700)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3840480" y="749808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1600200" y="7809120"/>
            <a:ext cx="4480200" cy="402120"/>
          </a:xfrm>
          <a:prstGeom prst="roundRect">
            <a:avLst>
              <a:gd name="adj" fmla="val 40909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1600200" y="7809120"/>
            <a:ext cx="4480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솔버 입력 파일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(.sdf / .kfp / .has)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3931920" y="672984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아니오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5760720" y="6373080"/>
            <a:ext cx="50292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6263640" y="2313360"/>
            <a:ext cx="360" cy="405972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5394960" y="2313360"/>
            <a:ext cx="868680" cy="360"/>
          </a:xfrm>
          <a:prstGeom prst="line">
            <a:avLst/>
          </a:prstGeom>
          <a:ln w="15240">
            <a:solidFill>
              <a:srgbClr val="000000"/>
            </a:solidFill>
            <a:round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5815440" y="6099120"/>
            <a:ext cx="365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예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6053400" y="2386440"/>
            <a:ext cx="1234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다음 도면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1444680" y="2112120"/>
            <a:ext cx="360" cy="1170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1444680" y="211212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1444680" y="328248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274320" y="2560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제</a:t>
            </a:r>
            <a:r>
              <a:rPr lang="en-US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1</a:t>
            </a: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국면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1444680" y="3648240"/>
            <a:ext cx="360" cy="40248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1444680" y="364824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1444680" y="405072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274320" y="3712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제</a:t>
            </a:r>
            <a:r>
              <a:rPr lang="en-US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2</a:t>
            </a: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국면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1444680" y="4416480"/>
            <a:ext cx="360" cy="40212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1444680" y="441648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1444680" y="481860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274320" y="44805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제</a:t>
            </a:r>
            <a:r>
              <a:rPr lang="en-US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3</a:t>
            </a: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국면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1444680" y="5184360"/>
            <a:ext cx="360" cy="49392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1444680" y="518436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1444680" y="567828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49"/>
          <p:cNvSpPr/>
          <p:nvPr/>
        </p:nvSpPr>
        <p:spPr>
          <a:xfrm>
            <a:off x="274320" y="52945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제</a:t>
            </a:r>
            <a:r>
              <a:rPr lang="en-US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4</a:t>
            </a: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국면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1444680" y="6044040"/>
            <a:ext cx="360" cy="142632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444680" y="604404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52"/>
          <p:cNvSpPr/>
          <p:nvPr/>
        </p:nvSpPr>
        <p:spPr>
          <a:xfrm>
            <a:off x="1444680" y="7470360"/>
            <a:ext cx="9144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3"/>
          <p:cNvSpPr/>
          <p:nvPr/>
        </p:nvSpPr>
        <p:spPr>
          <a:xfrm>
            <a:off x="274320" y="66204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제</a:t>
            </a:r>
            <a:r>
              <a:rPr lang="en-US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5</a:t>
            </a: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국면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1005840" y="8549640"/>
            <a:ext cx="5550120" cy="360"/>
          </a:xfrm>
          <a:prstGeom prst="line">
            <a:avLst/>
          </a:prstGeom>
          <a:ln w="9525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55"/>
          <p:cNvSpPr/>
          <p:nvPr/>
        </p:nvSpPr>
        <p:spPr>
          <a:xfrm>
            <a:off x="1005840" y="8622720"/>
            <a:ext cx="5550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굵은 테두리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(S200 · S300)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는 본 발명의 핵심 단계이다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S300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의 배관망 그래프는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S200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에서 설정된 기준점을 뿌리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(Root)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로 하는 위상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(Topology)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구조로 복원되며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이에 따라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S200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S300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에 반드시 선행한다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S650(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추가도면 여부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)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에서 처리할 도면이 남은 경우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S100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으로 회귀하여 평면도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계통도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기계실 도면에 동일한 절차를 반복 적용한다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【도 </a:t>
            </a:r>
            <a:r>
              <a:rPr lang="en-US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2</a:t>
            </a: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】  제</a:t>
            </a:r>
            <a:r>
              <a:rPr lang="en-US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1</a:t>
            </a: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국면 — </a:t>
            </a:r>
            <a:r>
              <a:rPr lang="zh-CN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도면 입력 </a:t>
            </a:r>
            <a:r>
              <a:rPr lang="en-US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· </a:t>
            </a:r>
            <a:r>
              <a:rPr lang="zh-CN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인식</a:t>
            </a:r>
            <a:endParaRPr lang="en-US" sz="12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57200" y="868680"/>
            <a:ext cx="664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세부 부호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S110~S140 · S210~S220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「부호의 설명」 참조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2286000" y="1463040"/>
            <a:ext cx="31086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2286000" y="146304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도면 데이터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(DXF)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3840480" y="18468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1600200" y="215784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1673280" y="215784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도면 파일 해</a:t>
            </a:r>
            <a:r>
              <a:rPr lang="ko-KR" altLang="en-US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석</a:t>
            </a:r>
            <a:r>
              <a:rPr lang="zh-CN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도형요소 추출 </a:t>
            </a:r>
            <a:r>
              <a:rPr lang="en-US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(S110)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3840480" y="257832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2286000" y="2889360"/>
            <a:ext cx="31086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2359080" y="2889360"/>
            <a:ext cx="29624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도면층 용도 분류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(S120)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3840480" y="330984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1"/>
          <p:cNvSpPr/>
          <p:nvPr/>
        </p:nvSpPr>
        <p:spPr>
          <a:xfrm>
            <a:off x="1600200" y="362088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1673280" y="362088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비배관 요소 제거 </a:t>
            </a:r>
            <a:r>
              <a:rPr lang="en-US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도면층 재분류 </a:t>
            </a:r>
            <a:r>
              <a:rPr lang="en-US" sz="8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(S130)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3840480" y="404136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4"/>
          <p:cNvSpPr/>
          <p:nvPr/>
        </p:nvSpPr>
        <p:spPr>
          <a:xfrm>
            <a:off x="2286000" y="4352400"/>
            <a:ext cx="31086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2359080" y="4352400"/>
            <a:ext cx="29624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헤드 후보 추출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(S140)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3840480" y="477288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7"/>
          <p:cNvSpPr/>
          <p:nvPr/>
        </p:nvSpPr>
        <p:spPr>
          <a:xfrm>
            <a:off x="1600200" y="508392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1673280" y="508392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900" spc="-1" dirty="0" err="1">
                <a:solidFill>
                  <a:srgbClr val="000000"/>
                </a:solidFill>
                <a:latin typeface="Malgun Gothic"/>
                <a:ea typeface="Malgun Gothic"/>
              </a:rPr>
              <a:t>알람밸브</a:t>
            </a: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 위치 </a:t>
            </a:r>
            <a:r>
              <a:rPr lang="ko-KR" altLang="en-US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지정</a:t>
            </a: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(S210)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9"/>
          <p:cNvSpPr/>
          <p:nvPr/>
        </p:nvSpPr>
        <p:spPr>
          <a:xfrm>
            <a:off x="3840480" y="55044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0"/>
          <p:cNvSpPr/>
          <p:nvPr/>
        </p:nvSpPr>
        <p:spPr>
          <a:xfrm>
            <a:off x="2286000" y="5815440"/>
            <a:ext cx="3108600" cy="420120"/>
          </a:xfrm>
          <a:prstGeom prst="rect">
            <a:avLst/>
          </a:prstGeom>
          <a:solidFill>
            <a:srgbClr val="FFFFFF"/>
          </a:solidFill>
          <a:ln w="330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2359080" y="5815440"/>
            <a:ext cx="29624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기준점 확정 </a:t>
            </a:r>
            <a:r>
              <a:rPr lang="en-US" sz="9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(S220)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2"/>
          <p:cNvSpPr/>
          <p:nvPr/>
        </p:nvSpPr>
        <p:spPr>
          <a:xfrm>
            <a:off x="3840480" y="623592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3"/>
          <p:cNvSpPr/>
          <p:nvPr/>
        </p:nvSpPr>
        <p:spPr>
          <a:xfrm>
            <a:off x="1600200" y="6546960"/>
            <a:ext cx="44802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1600200" y="6546960"/>
            <a:ext cx="4480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배관 도형요소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헤드 후보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기준점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5"/>
          <p:cNvSpPr/>
          <p:nvPr/>
        </p:nvSpPr>
        <p:spPr>
          <a:xfrm>
            <a:off x="1005840" y="7498080"/>
            <a:ext cx="5550120" cy="360"/>
          </a:xfrm>
          <a:prstGeom prst="line">
            <a:avLst/>
          </a:prstGeom>
          <a:ln w="9525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1005840" y="7571160"/>
            <a:ext cx="5550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S120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도면층의 명칭으로부터 그 용도를 배관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헤드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문자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유수검지장치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건축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제외의 여섯으로 자동 분류한다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S130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배관 용도가 아닌 도형요소를 제거하되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헤드 기호에 의한 단절 흔적 또는 헤드 연결관이 검출된 도면층은 배관으로 재분류한다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S140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의 헤드 후보 추출은 배관망 그래프 구축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(S300)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에 선행하며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추출된 헤드는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S350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에서 배관망의 절점으로 결합된다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S220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사용자 지정 위치 → 자동 탐지 위치 → 관이 가장 많이 모이는 절점의 순으로 기준점을 확정하되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마지막 방법으로 대체된 경우에는 그 절점이 유수검지장치라는 근거가 없으므로 경고를 발한다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【도 </a:t>
            </a:r>
            <a:r>
              <a:rPr lang="en-US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3</a:t>
            </a: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】  제</a:t>
            </a:r>
            <a:r>
              <a:rPr lang="en-US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2</a:t>
            </a: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국면 — </a:t>
            </a:r>
            <a:r>
              <a:rPr lang="zh-CN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배관망 그래프 구축</a:t>
            </a:r>
            <a:r>
              <a:rPr lang="en-US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(S300)</a:t>
            </a:r>
            <a:endParaRPr lang="en-US" sz="12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457200" y="868680"/>
            <a:ext cx="664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S330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상세는 도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4 · S340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상세는 도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5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참조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1600200" y="1417320"/>
            <a:ext cx="44802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1600200" y="1417320"/>
            <a:ext cx="4480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배관 도형요소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헤드 후보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기준점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3840480" y="180108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2286000" y="211212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2359080" y="211212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정합 허용오차 산정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(S310)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3840480" y="251460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1600200" y="2825640"/>
            <a:ext cx="44802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1673280" y="2825640"/>
            <a:ext cx="433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900" spc="-1" dirty="0">
                <a:solidFill>
                  <a:srgbClr val="000000"/>
                </a:solidFill>
                <a:latin typeface="Malgun Gothic"/>
                <a:ea typeface="Malgun Gothic"/>
              </a:rPr>
              <a:t>노드</a:t>
            </a: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 정합 </a:t>
            </a:r>
            <a:r>
              <a:rPr lang="en-US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관로 등록 </a:t>
            </a:r>
            <a:r>
              <a:rPr lang="en-US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(S320)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3840480" y="322776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2286000" y="353880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2359080" y="353880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복</a:t>
            </a:r>
            <a:r>
              <a:rPr lang="ko-KR" altLang="en-US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수</a:t>
            </a: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선 배관 단선화 </a:t>
            </a:r>
            <a:r>
              <a:rPr lang="en-US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(S330)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3"/>
          <p:cNvSpPr/>
          <p:nvPr/>
        </p:nvSpPr>
        <p:spPr>
          <a:xfrm>
            <a:off x="3840480" y="394092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4"/>
          <p:cNvSpPr/>
          <p:nvPr/>
        </p:nvSpPr>
        <p:spPr>
          <a:xfrm>
            <a:off x="2286000" y="425196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2359080" y="425196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단절 접속 복원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(S340)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6"/>
          <p:cNvSpPr/>
          <p:nvPr/>
        </p:nvSpPr>
        <p:spPr>
          <a:xfrm>
            <a:off x="3840480" y="465408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7"/>
          <p:cNvSpPr/>
          <p:nvPr/>
        </p:nvSpPr>
        <p:spPr>
          <a:xfrm>
            <a:off x="2286000" y="496512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2359080" y="496512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헤드 절점 결합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(S350)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9"/>
          <p:cNvSpPr/>
          <p:nvPr/>
        </p:nvSpPr>
        <p:spPr>
          <a:xfrm>
            <a:off x="3840480" y="536724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0"/>
          <p:cNvSpPr/>
          <p:nvPr/>
        </p:nvSpPr>
        <p:spPr>
          <a:xfrm>
            <a:off x="2286000" y="567828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2359080" y="567828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기준점 배관망 접속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(S360)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2"/>
          <p:cNvSpPr/>
          <p:nvPr/>
        </p:nvSpPr>
        <p:spPr>
          <a:xfrm>
            <a:off x="3840480" y="608076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3"/>
          <p:cNvSpPr/>
          <p:nvPr/>
        </p:nvSpPr>
        <p:spPr>
          <a:xfrm>
            <a:off x="2286000" y="6391800"/>
            <a:ext cx="3108600" cy="402120"/>
          </a:xfrm>
          <a:prstGeom prst="rect">
            <a:avLst/>
          </a:prstGeom>
          <a:solidFill>
            <a:srgbClr val="FFFFFF"/>
          </a:solidFill>
          <a:ln w="330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4"/>
          <p:cNvSpPr/>
          <p:nvPr/>
        </p:nvSpPr>
        <p:spPr>
          <a:xfrm>
            <a:off x="2359080" y="639180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가지식 배관망 정형화 </a:t>
            </a:r>
            <a:r>
              <a:rPr lang="en-US" sz="9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(S370)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5"/>
          <p:cNvSpPr/>
          <p:nvPr/>
        </p:nvSpPr>
        <p:spPr>
          <a:xfrm>
            <a:off x="3840480" y="679392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6"/>
          <p:cNvSpPr/>
          <p:nvPr/>
        </p:nvSpPr>
        <p:spPr>
          <a:xfrm>
            <a:off x="2286000" y="7104960"/>
            <a:ext cx="31086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7"/>
          <p:cNvSpPr/>
          <p:nvPr/>
        </p:nvSpPr>
        <p:spPr>
          <a:xfrm>
            <a:off x="2286000" y="710496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기준점 기점 가지식 배관망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8"/>
          <p:cNvSpPr/>
          <p:nvPr/>
        </p:nvSpPr>
        <p:spPr>
          <a:xfrm>
            <a:off x="1005840" y="7726680"/>
            <a:ext cx="5550120" cy="360"/>
          </a:xfrm>
          <a:prstGeom prst="line">
            <a:avLst/>
          </a:prstGeom>
          <a:ln w="9525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9"/>
          <p:cNvSpPr/>
          <p:nvPr/>
        </p:nvSpPr>
        <p:spPr>
          <a:xfrm>
            <a:off x="1005840" y="7799760"/>
            <a:ext cx="5550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S300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절점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관로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헤드의 세 요소로 구성되는 배관망의 위상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(Topology)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을 도면으로부터 자동 복원하는 단계로서 본 발명의 핵심이다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S310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정합 허용오차를 고정값으로 두지 아니하고 도면마다 산정한다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S350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헤드의 도면상 위치를 배관망과 같은 절점 좌표계로 환산하여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허용오차 안에 이미 절점이 있으면 그대로 쓰고 없을 때에만 결합관을 생성한다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S370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S220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에서 확정된 기준점을 기점으로 하는 최단 배관경로만을 남겨 폐회로를 해소하며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결합관에는 경로 선정 비용을 가산하여 실제 배관이 우선 선택되도록 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점선 테두리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(S340)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는 종속항 대상 단계이다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【도 </a:t>
            </a:r>
            <a:r>
              <a:rPr lang="en-US" sz="145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4</a:t>
            </a:r>
            <a:r>
              <a:rPr lang="zh-CN" sz="145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】  복선 배관 단선화 단계</a:t>
            </a:r>
            <a:r>
              <a:rPr lang="en-US" sz="145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(S330)</a:t>
            </a:r>
            <a:r>
              <a:rPr lang="zh-CN" sz="145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의 상세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457200" y="868680"/>
            <a:ext cx="664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단선화 조건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(3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조건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)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의 정확한 정의는 「판정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수식 명세」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S332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참조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2286000" y="2011680"/>
            <a:ext cx="3108600" cy="402120"/>
          </a:xfrm>
          <a:prstGeom prst="roundRect">
            <a:avLst>
              <a:gd name="adj" fmla="val 40909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2286000" y="2011680"/>
            <a:ext cx="31086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관로 연결망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3840480" y="24138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2286000" y="2724840"/>
            <a:ext cx="3108600" cy="4568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2359080" y="2724840"/>
            <a:ext cx="296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복선 작도 구간 탐색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(S331)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3840480" y="318204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1920240" y="3493080"/>
            <a:ext cx="3840120" cy="67644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2423160" y="3493080"/>
            <a:ext cx="283428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단선화 조건 충족</a:t>
            </a:r>
            <a:r>
              <a:rPr lang="en-US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? (S332)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3840480" y="416952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3931920" y="4151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예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5760720" y="3831120"/>
            <a:ext cx="411480" cy="360"/>
          </a:xfrm>
          <a:prstGeom prst="line">
            <a:avLst/>
          </a:prstGeom>
          <a:ln w="1397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6199560" y="3639240"/>
            <a:ext cx="959760" cy="383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4"/>
          <p:cNvSpPr/>
          <p:nvPr/>
        </p:nvSpPr>
        <p:spPr>
          <a:xfrm>
            <a:off x="6199560" y="3639240"/>
            <a:ext cx="959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850" spc="-1" dirty="0" err="1">
                <a:solidFill>
                  <a:srgbClr val="000000"/>
                </a:solidFill>
                <a:latin typeface="Arial"/>
              </a:rPr>
              <a:t>선정하지않음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5797440" y="3529440"/>
            <a:ext cx="383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아니오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2286000" y="4480560"/>
            <a:ext cx="3108600" cy="4568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7"/>
          <p:cNvSpPr/>
          <p:nvPr/>
        </p:nvSpPr>
        <p:spPr>
          <a:xfrm>
            <a:off x="2359080" y="4480560"/>
            <a:ext cx="296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중심선 치환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(S333)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3840480" y="493776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9"/>
          <p:cNvSpPr/>
          <p:nvPr/>
        </p:nvSpPr>
        <p:spPr>
          <a:xfrm>
            <a:off x="2286000" y="5248800"/>
            <a:ext cx="3108600" cy="402120"/>
          </a:xfrm>
          <a:prstGeom prst="roundRect">
            <a:avLst>
              <a:gd name="adj" fmla="val 40909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0"/>
          <p:cNvSpPr/>
          <p:nvPr/>
        </p:nvSpPr>
        <p:spPr>
          <a:xfrm>
            <a:off x="2286000" y="5248800"/>
            <a:ext cx="31086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단선화 배관망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1"/>
          <p:cNvSpPr/>
          <p:nvPr/>
        </p:nvSpPr>
        <p:spPr>
          <a:xfrm>
            <a:off x="1371600" y="4709160"/>
            <a:ext cx="914400" cy="3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2"/>
          <p:cNvSpPr/>
          <p:nvPr/>
        </p:nvSpPr>
        <p:spPr>
          <a:xfrm>
            <a:off x="1371600" y="2953440"/>
            <a:ext cx="360" cy="175572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3"/>
          <p:cNvSpPr/>
          <p:nvPr/>
        </p:nvSpPr>
        <p:spPr>
          <a:xfrm>
            <a:off x="1371600" y="2953440"/>
            <a:ext cx="914400" cy="3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24"/>
          <p:cNvSpPr/>
          <p:nvPr/>
        </p:nvSpPr>
        <p:spPr>
          <a:xfrm>
            <a:off x="201240" y="3538800"/>
            <a:ext cx="10969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반복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</a:t>
            </a:r>
            <a:r>
              <a:rPr lang="zh-CN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최대 </a:t>
            </a:r>
            <a:r>
              <a:rPr lang="en-US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10</a:t>
            </a:r>
            <a:r>
              <a:rPr lang="zh-CN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회</a:t>
            </a:r>
            <a:r>
              <a:rPr lang="en-US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)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5"/>
          <p:cNvSpPr/>
          <p:nvPr/>
        </p:nvSpPr>
        <p:spPr>
          <a:xfrm>
            <a:off x="1005840" y="6126480"/>
            <a:ext cx="5550120" cy="360"/>
          </a:xfrm>
          <a:prstGeom prst="line">
            <a:avLst/>
          </a:prstGeom>
          <a:ln w="9525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6"/>
          <p:cNvSpPr/>
          <p:nvPr/>
        </p:nvSpPr>
        <p:spPr>
          <a:xfrm>
            <a:off x="1005840" y="6199560"/>
            <a:ext cx="5550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배관을 두 줄로 작도한 구간은 짧은 변으로 이어진 사각 구간으로 나타나므로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S331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그 사각 구간에서 마주보는 두 변을 복선 후보로 추출한다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새로운 단선화가 더 일어나지 아니할 때까지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S331~S333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을 반복하며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복선으로 작도된 배관은 하나의 중심선으로 치환되어 위상 복원의 대상이 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【도 </a:t>
            </a:r>
            <a:r>
              <a:rPr lang="en-US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5</a:t>
            </a:r>
            <a:r>
              <a:rPr lang="zh-CN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】  단절 접속 복원 단계</a:t>
            </a:r>
            <a:r>
              <a:rPr lang="en-US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(S340)</a:t>
            </a:r>
            <a:r>
              <a:rPr lang="zh-CN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의 상세 — </a:t>
            </a:r>
            <a:r>
              <a:rPr lang="en-US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4</a:t>
            </a:r>
            <a:r>
              <a:rPr lang="zh-CN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종 병렬 적용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457200" y="868680"/>
            <a:ext cx="664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각 판정의 정확한 정의는 「판정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수식 명세」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S341~S344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참조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2286000" y="1737360"/>
            <a:ext cx="31086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2286000" y="173736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단선화 배관망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3840480" y="212112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1600200" y="243216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1673280" y="243216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가지관 분기 접속 복원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(S341)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3840480" y="285264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2286000" y="3163680"/>
            <a:ext cx="31086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2359080" y="3163680"/>
            <a:ext cx="29624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중복 작도 관로 정리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(S342)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3840480" y="358416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1600200" y="389520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1673280" y="389520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헤드 기호 단절부 접속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(S343)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3"/>
          <p:cNvSpPr/>
          <p:nvPr/>
        </p:nvSpPr>
        <p:spPr>
          <a:xfrm>
            <a:off x="3840480" y="431568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4"/>
          <p:cNvSpPr/>
          <p:nvPr/>
        </p:nvSpPr>
        <p:spPr>
          <a:xfrm>
            <a:off x="1600200" y="462672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1673280" y="462672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교차부 분기 접속 복원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(S344)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6"/>
          <p:cNvSpPr/>
          <p:nvPr/>
        </p:nvSpPr>
        <p:spPr>
          <a:xfrm>
            <a:off x="3840480" y="50472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7"/>
          <p:cNvSpPr/>
          <p:nvPr/>
        </p:nvSpPr>
        <p:spPr>
          <a:xfrm>
            <a:off x="2286000" y="5358240"/>
            <a:ext cx="31086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2286000" y="535824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접속 복원 배관망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9"/>
          <p:cNvSpPr/>
          <p:nvPr/>
        </p:nvSpPr>
        <p:spPr>
          <a:xfrm>
            <a:off x="1005840" y="6035040"/>
            <a:ext cx="5550120" cy="360"/>
          </a:xfrm>
          <a:prstGeom prst="line">
            <a:avLst/>
          </a:prstGeom>
          <a:ln w="9525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1005840" y="6108120"/>
            <a:ext cx="5550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배관망이 수리계산의 대상으로 성립하기 위해서는 기준점과 각 헤드 사이에 끊어지지 아니한 관로가 각각 하나씩 있어야 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그 관로가 하나라도 없으면 수리계산 프로그램은 이를 배관망으로 인정하지 아니한다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S341~S344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는 도면의 작도 관행으로 인하여 끊어져 보이는 접속을 복원하는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4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개 단계로서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모두 도면에 이미 있는 좌표와 근거만을 사용하고 새로운 좌표를 만들어 내지 아니한다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S342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는 겹쳐 그린 관로를 정리하여 끝점에 모이는 관의 수를 바로잡으며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이는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S343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의 접속 판정에 선행하여야 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실제 배관만으로 이어지지 아니하는 자리는 임의로 메우지 아니하고 미도달로 보고한다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점선 테두리는 종속항 대상 단계이다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【도 </a:t>
            </a:r>
            <a:r>
              <a:rPr lang="en-US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6</a:t>
            </a: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】  제</a:t>
            </a:r>
            <a:r>
              <a:rPr lang="en-US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3</a:t>
            </a: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국면 — </a:t>
            </a:r>
            <a:r>
              <a:rPr lang="zh-CN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기준개수 헤드</a:t>
            </a:r>
            <a:r>
              <a:rPr lang="ko-KR" altLang="en-US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군</a:t>
            </a:r>
            <a:r>
              <a:rPr lang="zh-CN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 선정</a:t>
            </a:r>
            <a:r>
              <a:rPr lang="en-US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(S400)</a:t>
            </a:r>
            <a:endParaRPr lang="en-US" sz="12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457200" y="868680"/>
            <a:ext cx="664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배관 연장은 모두 관 중심선을 따라 잰 길이이다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평면 직선거리가 아님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)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2286000" y="1645920"/>
            <a:ext cx="31086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2286000" y="164592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기준점 기점 가지식 배관망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3840480" y="202968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1600200" y="234072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1673280" y="234072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기준점 기준 배관 연장 산정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(S410)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3840480" y="27612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1600200" y="307224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1673280" y="307224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배관 연장 순 정렬 </a:t>
            </a:r>
            <a:r>
              <a:rPr lang="en-US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기준개수 선정 </a:t>
            </a:r>
            <a:r>
              <a:rPr lang="en-US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(S420)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3840480" y="349272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1"/>
          <p:cNvSpPr/>
          <p:nvPr/>
        </p:nvSpPr>
        <p:spPr>
          <a:xfrm>
            <a:off x="1600200" y="380376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1673280" y="380376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급수경로 추출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폐회로 정리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(S430)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3840480" y="422424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4"/>
          <p:cNvSpPr/>
          <p:nvPr/>
        </p:nvSpPr>
        <p:spPr>
          <a:xfrm>
            <a:off x="2286000" y="4535280"/>
            <a:ext cx="31086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2359080" y="4535280"/>
            <a:ext cx="29624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직선 관로 통합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(S440)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6"/>
          <p:cNvSpPr/>
          <p:nvPr/>
        </p:nvSpPr>
        <p:spPr>
          <a:xfrm>
            <a:off x="3840480" y="495576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7"/>
          <p:cNvSpPr/>
          <p:nvPr/>
        </p:nvSpPr>
        <p:spPr>
          <a:xfrm>
            <a:off x="1600200" y="5266800"/>
            <a:ext cx="4480200" cy="42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8"/>
          <p:cNvSpPr/>
          <p:nvPr/>
        </p:nvSpPr>
        <p:spPr>
          <a:xfrm>
            <a:off x="1673280" y="5266800"/>
            <a:ext cx="433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관로 직각 정형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교차 정리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(S450)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9"/>
          <p:cNvSpPr/>
          <p:nvPr/>
        </p:nvSpPr>
        <p:spPr>
          <a:xfrm>
            <a:off x="3840480" y="568728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0"/>
          <p:cNvSpPr/>
          <p:nvPr/>
        </p:nvSpPr>
        <p:spPr>
          <a:xfrm>
            <a:off x="1600200" y="5998320"/>
            <a:ext cx="44802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1"/>
          <p:cNvSpPr/>
          <p:nvPr/>
        </p:nvSpPr>
        <p:spPr>
          <a:xfrm>
            <a:off x="1600200" y="5998320"/>
            <a:ext cx="4480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수리계산 대상 배관망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</a:t>
            </a: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기준구역 헤드군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2"/>
          <p:cNvSpPr/>
          <p:nvPr/>
        </p:nvSpPr>
        <p:spPr>
          <a:xfrm>
            <a:off x="1005840" y="6812280"/>
            <a:ext cx="5550120" cy="360"/>
          </a:xfrm>
          <a:prstGeom prst="line">
            <a:avLst/>
          </a:prstGeom>
          <a:ln w="9525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3"/>
          <p:cNvSpPr/>
          <p:nvPr/>
        </p:nvSpPr>
        <p:spPr>
          <a:xfrm>
            <a:off x="1005840" y="6885360"/>
            <a:ext cx="5550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S410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기준점을 기점으로 하는 최단 배관경로 탐색을 한 번 수행하여 각 헤드까지의 배관 연장을 산정한다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S420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그 배관 연장이 긴 순서로 정렬하여 화재안전기준이 정하는 기준개수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기본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30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개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)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만큼 헤드를 선정하며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이와 같이 선정된 기준구역 안의 헤드군이 곧 수리학적으로 가장 불리한 헤드군이다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S430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에서 각 헤드까지의 급수경로를 모으면 경로가 갈라졌다 다시 만나는 자리에서 폐회로가 생기므로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중복 경로를 판정하여 폐회로를 닫는 관로를 제거하고 가지식 구조를 유지한다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S450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S440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의 통합이 직각 모서리를 흡수하며 만든 사선을 다시 수평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수직 관로로 되돌리되 총 연장과 기준점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헤드의 위치는 보존한다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점선 테두리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(S420)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는 종속항 대상 단계이다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【도 </a:t>
            </a:r>
            <a:r>
              <a:rPr lang="en-US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7</a:t>
            </a:r>
            <a:r>
              <a:rPr lang="zh-CN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】  직선 관로 통합 단계</a:t>
            </a:r>
            <a:r>
              <a:rPr lang="en-US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(S440)</a:t>
            </a:r>
            <a:r>
              <a:rPr lang="zh-CN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의 상세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57200" y="868680"/>
            <a:ext cx="664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편입 조건의 정확한 정의는 「판정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수식 명세」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S442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참조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2286000" y="2011680"/>
            <a:ext cx="3108600" cy="402120"/>
          </a:xfrm>
          <a:prstGeom prst="roundRect">
            <a:avLst>
              <a:gd name="adj" fmla="val 40909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2286000" y="2011680"/>
            <a:ext cx="31086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급수경로 배관망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4"/>
          <p:cNvSpPr/>
          <p:nvPr/>
        </p:nvSpPr>
        <p:spPr>
          <a:xfrm>
            <a:off x="3840480" y="24138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2286000" y="2724840"/>
            <a:ext cx="3108600" cy="4568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2359080" y="2724840"/>
            <a:ext cx="296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단순 통과 </a:t>
            </a:r>
            <a:r>
              <a:rPr lang="ko-KR" altLang="en-US" sz="900" spc="-1" dirty="0">
                <a:solidFill>
                  <a:srgbClr val="000000"/>
                </a:solidFill>
                <a:latin typeface="Malgun Gothic"/>
                <a:ea typeface="Malgun Gothic"/>
              </a:rPr>
              <a:t>노드</a:t>
            </a:r>
            <a:r>
              <a:rPr lang="zh-CN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 선별 </a:t>
            </a:r>
            <a:r>
              <a:rPr lang="en-US" sz="900" b="0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(S441)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7"/>
          <p:cNvSpPr/>
          <p:nvPr/>
        </p:nvSpPr>
        <p:spPr>
          <a:xfrm>
            <a:off x="3840480" y="318204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8"/>
          <p:cNvSpPr/>
          <p:nvPr/>
        </p:nvSpPr>
        <p:spPr>
          <a:xfrm>
            <a:off x="1920240" y="3493080"/>
            <a:ext cx="3840120" cy="67644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2423160" y="3493080"/>
            <a:ext cx="283428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동일 관로 편입 가능</a:t>
            </a:r>
            <a:r>
              <a:rPr lang="en-US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? (S442)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3840480" y="416952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3931920" y="4151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예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2"/>
          <p:cNvSpPr/>
          <p:nvPr/>
        </p:nvSpPr>
        <p:spPr>
          <a:xfrm>
            <a:off x="5760720" y="3831120"/>
            <a:ext cx="411480" cy="360"/>
          </a:xfrm>
          <a:prstGeom prst="line">
            <a:avLst/>
          </a:prstGeom>
          <a:ln w="1397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3"/>
          <p:cNvSpPr/>
          <p:nvPr/>
        </p:nvSpPr>
        <p:spPr>
          <a:xfrm>
            <a:off x="6199560" y="3639240"/>
            <a:ext cx="959760" cy="383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6199560" y="3639240"/>
            <a:ext cx="959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존치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797440" y="3529440"/>
            <a:ext cx="383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아니오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6"/>
          <p:cNvSpPr/>
          <p:nvPr/>
        </p:nvSpPr>
        <p:spPr>
          <a:xfrm>
            <a:off x="1600200" y="4480560"/>
            <a:ext cx="4480200" cy="4568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1673280" y="4480560"/>
            <a:ext cx="4334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관로 통합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관이음쇠 계상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(S443)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8"/>
          <p:cNvSpPr/>
          <p:nvPr/>
        </p:nvSpPr>
        <p:spPr>
          <a:xfrm>
            <a:off x="3840480" y="493776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9"/>
          <p:cNvSpPr/>
          <p:nvPr/>
        </p:nvSpPr>
        <p:spPr>
          <a:xfrm>
            <a:off x="2286000" y="5248800"/>
            <a:ext cx="3108600" cy="402120"/>
          </a:xfrm>
          <a:prstGeom prst="roundRect">
            <a:avLst>
              <a:gd name="adj" fmla="val 40909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2286000" y="5248800"/>
            <a:ext cx="31086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정형화 배관망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관이음쇠 목록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1"/>
          <p:cNvSpPr/>
          <p:nvPr/>
        </p:nvSpPr>
        <p:spPr>
          <a:xfrm>
            <a:off x="1371600" y="4709160"/>
            <a:ext cx="228600" cy="3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2"/>
          <p:cNvSpPr/>
          <p:nvPr/>
        </p:nvSpPr>
        <p:spPr>
          <a:xfrm>
            <a:off x="1371600" y="2953440"/>
            <a:ext cx="360" cy="175572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3"/>
          <p:cNvSpPr/>
          <p:nvPr/>
        </p:nvSpPr>
        <p:spPr>
          <a:xfrm>
            <a:off x="1371600" y="2953440"/>
            <a:ext cx="914400" cy="3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4"/>
          <p:cNvSpPr/>
          <p:nvPr/>
        </p:nvSpPr>
        <p:spPr>
          <a:xfrm>
            <a:off x="201240" y="3538800"/>
            <a:ext cx="10969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반복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5"/>
          <p:cNvSpPr/>
          <p:nvPr/>
        </p:nvSpPr>
        <p:spPr>
          <a:xfrm>
            <a:off x="1005840" y="6126480"/>
            <a:ext cx="5550120" cy="360"/>
          </a:xfrm>
          <a:prstGeom prst="line">
            <a:avLst/>
          </a:prstGeom>
          <a:ln w="9525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6"/>
          <p:cNvSpPr/>
          <p:nvPr/>
        </p:nvSpPr>
        <p:spPr>
          <a:xfrm>
            <a:off x="1005840" y="6199560"/>
            <a:ext cx="5550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기준점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선정된 헤드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세 개 이상의 관이 모이는 분기 절점은 반드시 존치되며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직선 위에서 관이 두 개만 지나는 절점만 통합 대상이 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통합된 관로의 길이는 합산하여 보존되고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흡수된 굴곡점은 그 꺾임각과 함께 기록되어 관이음쇠 목록으로 계상된다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(S443).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【도 </a:t>
            </a:r>
            <a:r>
              <a:rPr lang="en-US" sz="10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8</a:t>
            </a:r>
            <a:r>
              <a:rPr lang="zh-CN" sz="10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】  제</a:t>
            </a:r>
            <a:r>
              <a:rPr lang="en-US" sz="10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4</a:t>
            </a:r>
            <a:r>
              <a:rPr lang="zh-CN" sz="10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국면 — </a:t>
            </a:r>
            <a:r>
              <a:rPr lang="zh-CN" sz="10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배관 정보 데이터 입력 및 </a:t>
            </a:r>
            <a:r>
              <a:rPr lang="en-US" sz="10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Isometric </a:t>
            </a:r>
            <a:r>
              <a:rPr lang="zh-CN" sz="10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도면 생성</a:t>
            </a:r>
            <a:r>
              <a:rPr lang="en-US" sz="10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(S500)</a:t>
            </a:r>
            <a:endParaRPr lang="en-US" sz="10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457200" y="868680"/>
            <a:ext cx="664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호칭경 결정 규칙은 「판정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수식 명세」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S520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참조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"/>
          <p:cNvSpPr/>
          <p:nvPr/>
        </p:nvSpPr>
        <p:spPr>
          <a:xfrm>
            <a:off x="2286000" y="1371600"/>
            <a:ext cx="31086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2286000" y="137160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정형화 배관망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관이음쇠 목록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3840480" y="175536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1600200" y="2066400"/>
            <a:ext cx="44802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1673280" y="2066400"/>
            <a:ext cx="433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구간별 담당 헤드 수 산정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(S510)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7"/>
          <p:cNvSpPr/>
          <p:nvPr/>
        </p:nvSpPr>
        <p:spPr>
          <a:xfrm>
            <a:off x="3840480" y="246888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1600200" y="2779920"/>
            <a:ext cx="44802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1673280" y="2779920"/>
            <a:ext cx="433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호칭경 결정 — 법정 최소 ↔ 도면 표기 </a:t>
            </a:r>
            <a:r>
              <a:rPr lang="en-US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(S520)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0"/>
          <p:cNvSpPr/>
          <p:nvPr/>
        </p:nvSpPr>
        <p:spPr>
          <a:xfrm>
            <a:off x="3840480" y="318204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2286000" y="349308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2359080" y="349308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표고 규칙 적용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(S530)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3"/>
          <p:cNvSpPr/>
          <p:nvPr/>
        </p:nvSpPr>
        <p:spPr>
          <a:xfrm>
            <a:off x="3840480" y="38952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1920240" y="4206240"/>
            <a:ext cx="3840120" cy="63972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2423160" y="420624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미확정 항목 존재</a:t>
            </a:r>
            <a:r>
              <a:rPr lang="en-US" sz="8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? (S535)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6"/>
          <p:cNvSpPr/>
          <p:nvPr/>
        </p:nvSpPr>
        <p:spPr>
          <a:xfrm>
            <a:off x="3840480" y="484632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7"/>
          <p:cNvSpPr/>
          <p:nvPr/>
        </p:nvSpPr>
        <p:spPr>
          <a:xfrm>
            <a:off x="3931920" y="4827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예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2286000" y="515736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2359080" y="515736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사용자 확인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보완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(S540)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0"/>
          <p:cNvSpPr/>
          <p:nvPr/>
        </p:nvSpPr>
        <p:spPr>
          <a:xfrm>
            <a:off x="3840480" y="555948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2286000" y="587052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2359080" y="587052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수리계산 입력표 작성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(S550)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3"/>
          <p:cNvSpPr/>
          <p:nvPr/>
        </p:nvSpPr>
        <p:spPr>
          <a:xfrm>
            <a:off x="3840480" y="627264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4"/>
          <p:cNvSpPr/>
          <p:nvPr/>
        </p:nvSpPr>
        <p:spPr>
          <a:xfrm>
            <a:off x="2286000" y="658368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5"/>
          <p:cNvSpPr/>
          <p:nvPr/>
        </p:nvSpPr>
        <p:spPr>
          <a:xfrm>
            <a:off x="2359080" y="658368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등각투상 형상 생성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(S560)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6"/>
          <p:cNvSpPr/>
          <p:nvPr/>
        </p:nvSpPr>
        <p:spPr>
          <a:xfrm>
            <a:off x="3840480" y="69858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7"/>
          <p:cNvSpPr/>
          <p:nvPr/>
        </p:nvSpPr>
        <p:spPr>
          <a:xfrm>
            <a:off x="2286000" y="7296840"/>
            <a:ext cx="31086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8"/>
          <p:cNvSpPr/>
          <p:nvPr/>
        </p:nvSpPr>
        <p:spPr>
          <a:xfrm>
            <a:off x="2286000" y="729684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도면별 처리 결과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9"/>
          <p:cNvSpPr/>
          <p:nvPr/>
        </p:nvSpPr>
        <p:spPr>
          <a:xfrm>
            <a:off x="5760720" y="4526280"/>
            <a:ext cx="457200" cy="36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30"/>
          <p:cNvSpPr/>
          <p:nvPr/>
        </p:nvSpPr>
        <p:spPr>
          <a:xfrm>
            <a:off x="6217920" y="4526280"/>
            <a:ext cx="360" cy="1188720"/>
          </a:xfrm>
          <a:prstGeom prst="line">
            <a:avLst/>
          </a:prstGeom>
          <a:ln w="15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1"/>
          <p:cNvSpPr/>
          <p:nvPr/>
        </p:nvSpPr>
        <p:spPr>
          <a:xfrm>
            <a:off x="3876840" y="5715000"/>
            <a:ext cx="2341080" cy="360"/>
          </a:xfrm>
          <a:prstGeom prst="line">
            <a:avLst/>
          </a:prstGeom>
          <a:ln w="15240">
            <a:solidFill>
              <a:srgbClr val="000000"/>
            </a:solidFill>
            <a:round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32"/>
          <p:cNvSpPr/>
          <p:nvPr/>
        </p:nvSpPr>
        <p:spPr>
          <a:xfrm>
            <a:off x="5797440" y="423360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5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아니오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3"/>
          <p:cNvSpPr/>
          <p:nvPr/>
        </p:nvSpPr>
        <p:spPr>
          <a:xfrm>
            <a:off x="1005840" y="7955280"/>
            <a:ext cx="5550120" cy="360"/>
          </a:xfrm>
          <a:prstGeom prst="line">
            <a:avLst/>
          </a:prstGeom>
          <a:ln w="9525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4"/>
          <p:cNvSpPr/>
          <p:nvPr/>
        </p:nvSpPr>
        <p:spPr>
          <a:xfrm>
            <a:off x="1005840" y="8028360"/>
            <a:ext cx="5550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S510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기준점을 기점으로 배관망을 훑어 각 관로가 담당하는 하류 헤드의 수를 산정하며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이 값은 유량의 누적값인 동시에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S520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의 법정 최소 호칭경을 정하는 근거가 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S520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담당 헤드 수로부터 화재안전기준 별표가 정하는 최소 호칭경을 구하고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이를 도면에 표기된 관경 문자의 판독값과 대조하여 안전측인 큰 값을 채택하며 그 채택 근거를 함께 남긴다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표고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관이음쇠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신축배관에 관한 정보는 미리 정하여 둔 표준 규칙으로 자동 부여하고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(S530),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그 규칙이 적용되지 아니한 미확정 항목만 사용자 확인 절차로 보완한다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(S540). S560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평면 좌표와 표고를 등각투상으로 환산하여 형상을 만든다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점선 테두리는 종속항 대상 단계이다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【도 </a:t>
            </a:r>
            <a:r>
              <a:rPr lang="en-US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9</a:t>
            </a: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】  제</a:t>
            </a:r>
            <a:r>
              <a:rPr lang="en-US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5</a:t>
            </a:r>
            <a:r>
              <a:rPr lang="zh-CN" sz="1200" b="1" strike="noStrike" spc="-1" dirty="0">
                <a:solidFill>
                  <a:srgbClr val="000000"/>
                </a:solidFill>
                <a:latin typeface="Malgun Gothic"/>
                <a:ea typeface="Malgun Gothic"/>
              </a:rPr>
              <a:t>국면 — </a:t>
            </a:r>
            <a:r>
              <a:rPr lang="zh-CN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병합 </a:t>
            </a:r>
            <a:r>
              <a:rPr lang="en-US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· </a:t>
            </a:r>
            <a:r>
              <a:rPr lang="zh-CN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결과 출력</a:t>
            </a:r>
            <a:r>
              <a:rPr lang="en-US" sz="1200" b="1" strike="noStrike" spc="-1" dirty="0">
                <a:solidFill>
                  <a:srgbClr val="FF0000"/>
                </a:solidFill>
                <a:latin typeface="Malgun Gothic"/>
                <a:ea typeface="Malgun Gothic"/>
              </a:rPr>
              <a:t>(S700)</a:t>
            </a:r>
            <a:endParaRPr lang="en-US" sz="12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457200" y="868680"/>
            <a:ext cx="664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급수방식은 사용자가 선택하며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(S710),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평면도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계통도 </a:t>
            </a:r>
            <a:r>
              <a:rPr lang="en-US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· </a:t>
            </a:r>
            <a:r>
              <a:rPr lang="zh-CN" sz="8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기계실 도면을 하나의 배관망으로 결합한다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"/>
          <p:cNvSpPr/>
          <p:nvPr/>
        </p:nvSpPr>
        <p:spPr>
          <a:xfrm>
            <a:off x="2286000" y="1463040"/>
            <a:ext cx="31086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2286000" y="146304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도면별 처리 결과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4"/>
          <p:cNvSpPr/>
          <p:nvPr/>
        </p:nvSpPr>
        <p:spPr>
          <a:xfrm>
            <a:off x="3840480" y="18468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5"/>
          <p:cNvSpPr/>
          <p:nvPr/>
        </p:nvSpPr>
        <p:spPr>
          <a:xfrm>
            <a:off x="2286000" y="215784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2359080" y="215784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급수방식 선택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(S710)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3840480" y="256032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8"/>
          <p:cNvSpPr/>
          <p:nvPr/>
        </p:nvSpPr>
        <p:spPr>
          <a:xfrm>
            <a:off x="1600200" y="2871360"/>
            <a:ext cx="44802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1673280" y="2871360"/>
            <a:ext cx="433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급수방식별 입상관 구성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(S720)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0"/>
          <p:cNvSpPr/>
          <p:nvPr/>
        </p:nvSpPr>
        <p:spPr>
          <a:xfrm>
            <a:off x="3840480" y="327348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1"/>
          <p:cNvSpPr/>
          <p:nvPr/>
        </p:nvSpPr>
        <p:spPr>
          <a:xfrm>
            <a:off x="1600200" y="3584520"/>
            <a:ext cx="44802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1673280" y="3584520"/>
            <a:ext cx="433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기계실 배관 전단 접속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(S730)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3"/>
          <p:cNvSpPr/>
          <p:nvPr/>
        </p:nvSpPr>
        <p:spPr>
          <a:xfrm>
            <a:off x="3840480" y="398664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4"/>
          <p:cNvSpPr/>
          <p:nvPr/>
        </p:nvSpPr>
        <p:spPr>
          <a:xfrm>
            <a:off x="1600200" y="4297680"/>
            <a:ext cx="44802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1673280" y="4297680"/>
            <a:ext cx="433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입상관 – 헤드배관 결합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(S740)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3840480" y="469980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7"/>
          <p:cNvSpPr/>
          <p:nvPr/>
        </p:nvSpPr>
        <p:spPr>
          <a:xfrm>
            <a:off x="1600200" y="5010840"/>
            <a:ext cx="44802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8"/>
          <p:cNvSpPr/>
          <p:nvPr/>
        </p:nvSpPr>
        <p:spPr>
          <a:xfrm>
            <a:off x="1673280" y="5010840"/>
            <a:ext cx="433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수리계산 입력파일 생성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(S750)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9"/>
          <p:cNvSpPr/>
          <p:nvPr/>
        </p:nvSpPr>
        <p:spPr>
          <a:xfrm>
            <a:off x="3840480" y="5412960"/>
            <a:ext cx="360" cy="31104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0"/>
          <p:cNvSpPr/>
          <p:nvPr/>
        </p:nvSpPr>
        <p:spPr>
          <a:xfrm>
            <a:off x="1600200" y="5724000"/>
            <a:ext cx="44802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21"/>
          <p:cNvSpPr/>
          <p:nvPr/>
        </p:nvSpPr>
        <p:spPr>
          <a:xfrm>
            <a:off x="1673280" y="5724000"/>
            <a:ext cx="433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타 해석프로그램 형식 변환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(S760)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2"/>
          <p:cNvSpPr/>
          <p:nvPr/>
        </p:nvSpPr>
        <p:spPr>
          <a:xfrm>
            <a:off x="3840480" y="612648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23"/>
          <p:cNvSpPr/>
          <p:nvPr/>
        </p:nvSpPr>
        <p:spPr>
          <a:xfrm>
            <a:off x="2286000" y="6437520"/>
            <a:ext cx="3108600" cy="402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4"/>
          <p:cNvSpPr/>
          <p:nvPr/>
        </p:nvSpPr>
        <p:spPr>
          <a:xfrm>
            <a:off x="2359080" y="6437520"/>
            <a:ext cx="296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산출물 일괄 압축 </a:t>
            </a:r>
            <a:r>
              <a:rPr lang="en-US" sz="9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(S770)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5"/>
          <p:cNvSpPr/>
          <p:nvPr/>
        </p:nvSpPr>
        <p:spPr>
          <a:xfrm>
            <a:off x="3840480" y="6839640"/>
            <a:ext cx="360" cy="310680"/>
          </a:xfrm>
          <a:prstGeom prst="line">
            <a:avLst/>
          </a:prstGeom>
          <a:ln w="15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26"/>
          <p:cNvSpPr/>
          <p:nvPr/>
        </p:nvSpPr>
        <p:spPr>
          <a:xfrm>
            <a:off x="1600200" y="7150680"/>
            <a:ext cx="4480200" cy="38376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27"/>
          <p:cNvSpPr/>
          <p:nvPr/>
        </p:nvSpPr>
        <p:spPr>
          <a:xfrm>
            <a:off x="1600200" y="7150680"/>
            <a:ext cx="4480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솔버 입력 파일 </a:t>
            </a:r>
            <a:r>
              <a:rPr lang="en-US" sz="9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(.sdf / .kfp / .has)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28"/>
          <p:cNvSpPr/>
          <p:nvPr/>
        </p:nvSpPr>
        <p:spPr>
          <a:xfrm>
            <a:off x="384120" y="1938600"/>
            <a:ext cx="14169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펌프 가압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자연낙차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1</a:t>
            </a:r>
            <a:r>
              <a:rPr lang="zh-CN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차 감압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2</a:t>
            </a:r>
            <a:r>
              <a:rPr lang="zh-CN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차 감압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9"/>
          <p:cNvSpPr/>
          <p:nvPr/>
        </p:nvSpPr>
        <p:spPr>
          <a:xfrm>
            <a:off x="1828800" y="2359080"/>
            <a:ext cx="457200" cy="3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0"/>
          <p:cNvSpPr/>
          <p:nvPr/>
        </p:nvSpPr>
        <p:spPr>
          <a:xfrm>
            <a:off x="5504760" y="223128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사용자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31"/>
          <p:cNvSpPr/>
          <p:nvPr/>
        </p:nvSpPr>
        <p:spPr>
          <a:xfrm>
            <a:off x="5394960" y="2359080"/>
            <a:ext cx="100440" cy="3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2"/>
          <p:cNvSpPr/>
          <p:nvPr/>
        </p:nvSpPr>
        <p:spPr>
          <a:xfrm>
            <a:off x="5577840" y="5577840"/>
            <a:ext cx="1782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zh-CN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입력파일을 원본으로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해석프로그램 </a:t>
            </a:r>
            <a:r>
              <a:rPr lang="en-US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A </a:t>
            </a:r>
            <a:r>
              <a:rPr lang="zh-CN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형식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 </a:t>
            </a:r>
            <a:r>
              <a:rPr lang="zh-CN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해석프로그램 </a:t>
            </a:r>
            <a:r>
              <a:rPr lang="en-US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B </a:t>
            </a:r>
            <a:r>
              <a:rPr lang="zh-CN" sz="700" b="0" strike="noStrike" spc="-1">
                <a:solidFill>
                  <a:srgbClr val="000000"/>
                </a:solidFill>
                <a:latin typeface="Malgun Gothic"/>
                <a:ea typeface="Malgun Gothic"/>
              </a:rPr>
              <a:t>형식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33"/>
          <p:cNvSpPr/>
          <p:nvPr/>
        </p:nvSpPr>
        <p:spPr>
          <a:xfrm flipH="1">
            <a:off x="5541120" y="5925240"/>
            <a:ext cx="539640" cy="3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34"/>
          <p:cNvSpPr/>
          <p:nvPr/>
        </p:nvSpPr>
        <p:spPr>
          <a:xfrm>
            <a:off x="1005840" y="8412480"/>
            <a:ext cx="5550120" cy="360"/>
          </a:xfrm>
          <a:prstGeom prst="line">
            <a:avLst/>
          </a:prstGeom>
          <a:ln w="9525">
            <a:solidFill>
              <a:srgbClr val="AAA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35"/>
          <p:cNvSpPr/>
          <p:nvPr/>
        </p:nvSpPr>
        <p:spPr>
          <a:xfrm>
            <a:off x="1005840" y="8485560"/>
            <a:ext cx="5550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S730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기계실 배관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(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수원에서 입상 연결점까지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)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을 입상관의 앞단에 접속하며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이때 수원의 위치는 입상관 상단에서 기계실 수면으로 옮겨지고 도면에 나타나지 아니하는 높이는 급수방식별 낙차 규칙으로 부여된다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S740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은 입상관 끝단의 유수검지장치 절점과 헤드배관의 같은 절점을 하나로 결합한다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계통도는 실제 좌표가 수십 미터에 이르므로 수직 막대로 재배치하고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기계실 도면은 평면 좌표를 그대로 보존한다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 S750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에서 생성된 입력파일에는 호칭경 대조용 표준 자료를 함께 동봉하며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S760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의 변환은 별도의 산출이 아니라 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S750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의 결과 파일 자체를 원본으로 삼으므로 모든 형식이 항상 같은 배관망을 가리킨다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부호의 설명 </a:t>
            </a:r>
            <a:r>
              <a:rPr lang="en-US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(1/2) — </a:t>
            </a:r>
            <a:r>
              <a:rPr lang="zh-CN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주요 단계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2" name="Table 0"/>
          <p:cNvGraphicFramePr/>
          <p:nvPr/>
        </p:nvGraphicFramePr>
        <p:xfrm>
          <a:off x="511920" y="1234440"/>
          <a:ext cx="6537960" cy="76809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부호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단계 명칭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처리 내용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S100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 입력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인식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국면 전반부 — 도면 해독부터 헤드 후보 추출까지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상세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2)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S110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 해독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 파일의 도형요소를 수치로 환산하고 도면 범위를 산정하여 표출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S120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도면층 용도 분류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도면층 명칭으로 배관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문자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유수검지장치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건축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제외의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용도 분류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S130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요소 선별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재분류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배관 외 도형요소 제거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단절 흔적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연결관 근거 도면층은 배관 재분류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S140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후보 추출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블록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원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해치 등 다중 근거에 신뢰도를 부여하고 근접 후보를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 헤드로 통합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S200 ★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설정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유수검지장치를 기준점으로 확정 —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S300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에 선행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S210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유수검지장치 탐지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유수검지장치의 블록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기호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표기 문자를 근거로 위치를 자동 탐지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S220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확정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사용자 지정 → 자동 탐지 → 최다 접속 절점 순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대체 시 경고 발생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S300 ★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배관망 그래프 구축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기준점을 기점으로 하는 위상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(Topology)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복원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상세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3~5)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S310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정합 허용오차 산정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도면마다 후보 허용오차를 시험하여 접속률이 유지되는 최소값을 채택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S320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절점 정합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관로 등록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허용오차 내 끝점을 한 절점으로 정합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양방향 접속 등록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폐다각형 제외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S330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복선 배관 단선화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두 줄로 작도된 배관을 하나의 중심선으로 치환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상세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4)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S340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단절 접속 복원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작도 관행으로 끊어진 접속을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 규칙으로 복원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상세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5) [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종속항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S350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절점 결합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위치를 절점 좌표계로 환산하여 배관망의 말단 절점으로 결합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S360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배관망 접속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기준점을 배관망 절점에 접속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허용 한도 초과 시 최근접 절점 대체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경고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S370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가지식 배관망 정형화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기점 최단 배관경로만 남겨 폐회로 해소 → 가지식 배관망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S400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기준구역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기준개수 헤드 선정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배관 연장 산정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정렬 선정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급수경로 추출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통합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정형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상세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6~7)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S500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배관 정보 데이터 입력 및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Isometric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 생성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담당 헤드 수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호칭경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표고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확인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입력표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등각투상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상세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8)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S650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추가도면 여부 판단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추가 처리 도면이 있으면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S100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으로 회귀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평면도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계통도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기계실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S700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병합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결과 출력 단계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입상관 구성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기계실 접속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결합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입력파일 생성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상세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 </a:t>
                      </a:r>
                      <a:r>
                        <a:rPr lang="en-US" sz="8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9)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93" name="Text 1"/>
          <p:cNvSpPr/>
          <p:nvPr/>
        </p:nvSpPr>
        <p:spPr>
          <a:xfrm>
            <a:off x="511920" y="9052560"/>
            <a:ext cx="6537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★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표시 및 도면의 굵은 테두리는 본 발명의 핵심 단계를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도면의 점선 테두리는 종속항 대상 단계를 각각 나타낸다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부호의 설명 </a:t>
            </a:r>
            <a:r>
              <a:rPr lang="en-US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(2/2) — </a:t>
            </a:r>
            <a:r>
              <a:rPr lang="zh-CN" sz="145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세부 부호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5" name="Table 0"/>
          <p:cNvGraphicFramePr/>
          <p:nvPr/>
        </p:nvGraphicFramePr>
        <p:xfrm>
          <a:off x="511920" y="1170360"/>
          <a:ext cx="6537960" cy="88981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부호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명칭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처리 내용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S331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복선 작도 구간 탐색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짧은 변으로 이어진 사각 구간에서 마주보는 두 변을 복선 후보로 추출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S332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단선화 조건 판정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짧은 변 길이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긴 변 대비 비율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두 변의 나란한 정도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조건 동시 충족 판정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S333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중심선 치환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마주보는 두 변의 중점을 잇는 하나의 관로로 치환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외부 접속 재연결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S341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가지관 분기 접속 복원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가지관 끝점이 주배관 중간에 닿는 자리를 그 자리에서 접속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종속항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S342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중복 작도 관로 정리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겹쳐 그린 관로를 정리해 끝점 접속 수 교정 —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S343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에 선행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종속항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S343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기호 단절부 접속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기호가 끊어놓은 같은 직선상 배관을 작도 규약 해석으로 접속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종속항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S344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교차부 분기 접속 복원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합류하는 교차 중 관이음쇠 기호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끝점 근거가 있는 것만 분기로 복원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종속항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S350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절점 결합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허용오차 안에 절점이 있으면 그대로 쓰고 없을 때만 결합관 생성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S360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배관망 접속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위치를 절점 좌표계로 환산한 뒤 최근접 절점에 접속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S370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가지식 배관망 정형화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기점 최단 배관경로 외 관로는 회수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결합관에 선정 비용 가산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S410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배관 연장 산정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기점 최단 배관경로 탐색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회로 각 헤드까지의 배관 연장 산정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S420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정렬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선정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배관 연장이 긴 순서로 정렬 후 법정 기준개수만큼 선정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종속항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S430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급수경로 추출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폐회로 정리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기준점→선정 헤드의 급수경로를 모으고 중복 경로 판정으로 폐회로 관로 제거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S440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직선 관로 통합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직선상 통과 절점 흡수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분기 절점은 존치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상세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7)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S441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단순 통과 절점 선별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관이 두 개만 지나는 절점과 그 양쪽 구간을 통합 후보로 선별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S442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편입 조건 판정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직선 편입 조건 또는 짧은 굴곡 편입 조건의 충족 여부 판정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S443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관로 통합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관이음쇠 계상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두 구간을 통합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길이 합산 보존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하고 굴곡점을 꺾임각과 함께 관이음쇠로 계상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S450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관로 직각 정형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교차 정리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통합이 만든 사선을 수평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수직 관로로 환원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총 연장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 위치 보존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S510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담당 헤드 수 산정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기점 순회로 관로별 하류 헤드 수 산정 — 유량 누적값 겸 호칭경 근거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S520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호칭경 결정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담당 헤드 수 기준 법정 최소 호칭경과 도면 표기값 중 안전측 채택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종속항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S530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표고 규칙 적용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구역 용도별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급수 방향별 규칙으로 표고차 부여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근거 등급 기록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종속항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S535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미확정 항목 판단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표준 규칙이 적용되지 아니한 항목의 존재 여부 판정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S540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사용자 확인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보완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미확정 항목을 사용자 확인 절차로 확인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보완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종속항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S550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입력표 작성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절점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관로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관이음쇠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기기의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 입력표 작성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번호 고정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S560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등각투상 형상 생성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평면 좌표와 표고를 등각투상으로 환산하여 형상 생성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S710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급수방식 선택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펌프 가압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자연낙차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 1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차 감압 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 2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차 감압 중 사용자 선택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S720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입상관 구성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선택한 급수방식별 감압밸브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펌프 접속 구조를 갖춘 입상관 구성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S730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기계실 전단 접속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기계실 배관을 입상관 앞단에 접속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수원 위치 이동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낙차 부여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S740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입상관–헤드배관 결합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입상관 끝단 유수검지장치 절점을 헤드배관의 같은 절점에 결합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S750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입력파일 생성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 입력표를 수리계산 입력파일로 기록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호칭경 대조 자료 동봉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S760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형식 변환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S750 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결과 파일을 원본으로 타 해석프로그램 형식 변환 — 동일 배관망 보장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S770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산출물 압축 단계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형식별 파일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입력표</a:t>
                      </a:r>
                      <a:r>
                        <a:rPr lang="en-US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2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대조 자료를 하나로 압축</a:t>
                      </a:r>
                      <a:endParaRPr lang="en-US" sz="72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/>
          <p:nvPr/>
        </p:nvSpPr>
        <p:spPr>
          <a:xfrm>
            <a:off x="457200" y="457200"/>
            <a:ext cx="6647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판정</a:t>
            </a:r>
            <a:r>
              <a:rPr lang="en-US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·</a:t>
            </a:r>
            <a:r>
              <a:rPr lang="zh-CN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수식 명세 — 도면 부호와 연결된 정확한 정의 </a:t>
            </a:r>
            <a:r>
              <a:rPr lang="en-US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(</a:t>
            </a:r>
            <a:r>
              <a:rPr lang="zh-CN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실시예 값</a:t>
            </a:r>
            <a:r>
              <a:rPr lang="en-US" sz="1200" b="1" strike="noStrike" spc="-1">
                <a:solidFill>
                  <a:srgbClr val="000000"/>
                </a:solidFill>
                <a:latin typeface="Malgun Gothic"/>
                <a:ea typeface="Malgun Gothic"/>
              </a:rPr>
              <a:t>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7" name="Table 0"/>
          <p:cNvGraphicFramePr/>
          <p:nvPr/>
        </p:nvGraphicFramePr>
        <p:xfrm>
          <a:off x="511920" y="1207080"/>
          <a:ext cx="6537960" cy="83472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부호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정확한 판정식 </a:t>
                      </a:r>
                      <a:r>
                        <a:rPr lang="en-US" sz="7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파라미터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1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적용 구간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S110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 범위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=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이상점을 제외한 좌표 범위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외부참조 도면 판정 시 경고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 해독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S120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용도 ∈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{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배관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문자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유수검지장치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건축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제외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}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도면층 분류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S130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배관 재분류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단절 흔적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건 이상 ∨ 헤드 연결관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1,500mm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접촉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50mm · 3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구간 이하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요소 선별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S140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신뢰도 — 등록 블록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0.95 /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헤드층 블록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0.70 /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원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0.80(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반경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10~250mm) /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해치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0.75 /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삼각 해치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0.72(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범위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1,500mm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미만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 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근접 통합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250mm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후보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S220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우선순위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사용자 지정 → 자동 탐지 → 최다 접속 절점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경고 동반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확정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S310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후보 ∈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{50, 60, 75, 90, 110, 130, 160, 200, …} mm 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접속 연장비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0.90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이상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보호 최소 관로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1,000mm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허용오차 산정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S320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제외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같은 절점끼리 ∨ 길이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미만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중복 시 짧은 길이 채택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폐다각형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|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첫점−끝점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| 5mm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제외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절점 정합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S332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짧은 변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300mm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∧ 긴 변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짧은 변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3.0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이상 ∧ 두 변의 나란한 정도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0.985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이상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반복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 이내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단선화 판정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S333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치환점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=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마주보는 두 끝점의 중점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중심선 치환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S341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가지관 끝점 ↔ 주배관 수직거리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20mm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새 좌표 생성 없음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가지관 분기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S343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같은 직선 정렬 오차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∧ 단절 길이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400mm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단절부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S344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축 오차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∧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관이음쇠 기호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300mm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∨ 끝점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400mm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교차부 분기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S350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결합관 허용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5,000mm 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기존 절점 재사용 판정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300mm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결합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S360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↔ 최근접 절점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25,000mm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초과 시 최근접 절점 대체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경고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접속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S370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경로 갱신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새 연장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=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기존 연장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+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관로 길이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결합관은 가산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 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더 짧을 때만 갱신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가지식 정형화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S410/420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연장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=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기점 최단 배관경로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긴 순서로 정렬 후 상위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K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K = 30 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선정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S430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급수경로의 합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중복 경로 판정으로 폐회로를 닫는 관로 제거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폐회로 정리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S442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꺾임각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12°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∨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꺾임각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95°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∧ 양쪽 구간 각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500mm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편입 조건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S443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통합 길이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=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두 구간 길이의 합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관이음쇠 분류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22.5°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판정불가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 67.5°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45°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엘보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 95°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이하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90°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엘보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관이음쇠 계상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S450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수평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수직 정렬 허용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20° 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총 연장 및 기준점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위치 보존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직각 정형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S520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호칭경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= max(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법정 최소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담당 헤드 수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),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 표기 판독값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1,500mm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이내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 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근거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{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 표기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법정 최소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법정 대체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}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호칭경 결정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S520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담당 헤드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 이하→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25 · 3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32 · 5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40 · 10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50 · 30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65 · 60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80 · 80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90 · 100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100 · 160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125 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초과→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150 (mm)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법정 최소 호칭경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S530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근거 등급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사용자 확정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&gt;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도면 추정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&gt;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규칙 기본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&gt;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미확정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관로는 약한 쪽 승계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표고 규칙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S550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입력표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종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=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절점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관로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관이음쇠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기기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번호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= 10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입력표 작성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S560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등각투상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X = (x−y)·cos30° 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표고를 수직축으로 환산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표시 전용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등각투상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S740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기준점 번호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을 공통 절점으로 결합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입상관 막대 길이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=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헤드 분포 세로폭 </a:t>
                      </a: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× 0.8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입상관 결합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S760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S750 </a:t>
                      </a: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결과 파일을 원본으로 변환 — 별도 산출이 아님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700" b="0" strike="noStrike" spc="-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형식 변환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760" marR="50760" anchor="ctr">
                    <a:lnL w="6480">
                      <a:solidFill>
                        <a:srgbClr val="777777"/>
                      </a:solidFill>
                      <a:prstDash val="solid"/>
                    </a:lnL>
                    <a:lnR w="6480">
                      <a:solidFill>
                        <a:srgbClr val="777777"/>
                      </a:solidFill>
                      <a:prstDash val="solid"/>
                    </a:lnR>
                    <a:lnT w="6480">
                      <a:solidFill>
                        <a:srgbClr val="777777"/>
                      </a:solidFill>
                      <a:prstDash val="solid"/>
                    </a:lnT>
                    <a:lnB w="6480">
                      <a:solidFill>
                        <a:srgbClr val="777777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  <p:sp>
        <p:nvSpPr>
          <p:cNvPr id="298" name="Text 1"/>
          <p:cNvSpPr/>
          <p:nvPr/>
        </p:nvSpPr>
        <p:spPr>
          <a:xfrm>
            <a:off x="511920" y="9921240"/>
            <a:ext cx="6537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본 표의 수치는 실시예 값으로서 청구범위를 한정하지 아니한다</a:t>
            </a:r>
            <a:r>
              <a:rPr lang="en-US" sz="80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1458</TotalTime>
  <Words>6267</Words>
  <Application>Microsoft Office PowerPoint</Application>
  <PresentationFormat>사용자 지정</PresentationFormat>
  <Paragraphs>384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Malgun Gothic</vt:lpstr>
      <vt:lpstr>Arial</vt:lpstr>
      <vt:lpstr>Calibri</vt:lpstr>
      <vt:lpstr>Symbol</vt:lpstr>
      <vt:lpstr>Times New Roman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7</cp:revision>
  <dcterms:modified xsi:type="dcterms:W3CDTF">2026-09-02T02:53:48Z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2026-08-24T08:37:31Z</dcterms:created>
  <dc:creator>PptxGenJS</dc:creator>
  <dc:description/>
  <dc:language>en-US</dc:language>
  <cp:lastModifiedBy>PptxGenJS</cp:lastModifiedBy>
  <dcterms:modified xsi:type="dcterms:W3CDTF">2026-08-24T08:37:31Z</dcterms:modified>
  <cp:revision>1</cp:revision>
  <dc:subject>PptxGenJS Presentation</dc:subject>
  <dc:title>배관망 위상 복원 특허 도면 (재설계)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